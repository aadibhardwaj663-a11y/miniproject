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with the challenge: cell lines differ in genomic activity and can react differently to the same drug. We predict a laboratory inhibition response, not patient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 expression measures activity of genes via RNA; mutation and copy number describe other genomic variation. The target is LN_IC50, the natural logarithm of fitted inhibitory concentration. A lower value generally means less compound is needed in the cell assay, not a recommended clinical dose.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CCLE/DepMap provides expression, mutation and copy-number files; GDSC2 provides fitted drug response. We matched exact cell identifiers, excluded name conflicts and combined source-normalized duplicated drug identifiers. This yields 649 matched cells, 286 drugs and 160,512 measured response pairs, about 86.5 percent coverage. The original source uses different years for genomics and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starts with exact source joins, then generates folds over unique entities. Within each training fold it selects 100 expression features, includes the same ten-gene mutation/copy-number panel, encodes the appropriate drug information and fits Ridge. Then it predicts and audits previously excluded entities. No test response is used for feature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drug-name-grouped and cell-ID benchmarks are retained. Additional post-hoc CID-grouped five-fold experiments keep compounds sharing known PubChem identities together. New drug CID RMSE is 2.452 vs 2.550 annotation-only; both new RMSE 2.501 vs 2.554 annotation-only on 32,149 pairs. The 50 unresolved compounds still prevent a fully chemistry-disjoint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new-cell RMSE 1.355 versus 1.462 per-drug mean. Original cold-drug RMSE 2.387 versus 2.488 annotations-only. Revised CID-grouped drug RMSE 2.452 versus 2.550, and joint cold RMSE 2.501 versus 2.554. All are internal results; the first two use the original normalized-name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pooled unseen-cell correlation is high, but it can reward predicting average drug effects. The median Pearson correlation calculated separately for each drug is only 0.449, a fairer measure of differences between cell lines for the same drug. The model beats the per-drug mean on 229 of 286 drug groups, but fails on 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MEK inhibitors are still poorly predicted compared with their within-drug means, despite distinct input identities for familiar drugs. We show selumetinib, trametinib and PD0325901 next to the Nutlin-3a and palbociclib examples. A good global metric cannot guarantee good estimates for each compound.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predeclared Nutlin-3a/TP53, selumetinib and trametinib/KRAS-BRAF, palbociclib/RB1 and taselisib/PIK3CA. Each drug had its own held-out-cell Ridge model. In Nutlin-3a the TP53 mutation-and-copy-number group showed predictive reliance, consistent with published MDM2-p53 pharmacology. Permutation importance is not proof of causality.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conclusions and limits explicitly. Genomic profiles and drug features improve regression within the matched preclinical cohort, but performance differs by compound. Assumptions: matched identities and source target/pathway labels are reliable. Limitations: mismatched data-release years, incomplete drug structure canonicalization, only single-dataset cross-validation, and no clinical/wet-lab validation. Final answer is a robust college-level proof of concept, not a clinical prediction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D3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91DFD6"/>
                </a:solidFill>
                <a:latin typeface="Aptos"/>
              </a:defRPr>
            </a:pPr>
            <a:r>
              <a:t>RESEARCH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Can gene expression predict cancer-drug sensitivity?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4C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4C5D2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B4C5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103120"/>
            <a:ext cx="10844784" cy="2176272"/>
          </a:xfrm>
          <a:prstGeom prst="roundRect">
            <a:avLst/>
          </a:prstGeom>
          <a:solidFill>
            <a:srgbClr val="244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414016"/>
            <a:ext cx="3200400" cy="80467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649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64992"/>
            <a:ext cx="3291840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9DDE8"/>
                </a:solidFill>
                <a:latin typeface="Aptos"/>
              </a:defRPr>
            </a:pPr>
            <a:r>
              <a:t>matched cell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14016"/>
            <a:ext cx="3200400" cy="80467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286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364992"/>
            <a:ext cx="3291840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9DDE8"/>
                </a:solidFill>
                <a:latin typeface="Aptos"/>
              </a:defRPr>
            </a:pPr>
            <a:r>
              <a:t>drug-name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414016"/>
            <a:ext cx="3200400" cy="80467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160,512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3364992"/>
            <a:ext cx="3291840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9DDE8"/>
                </a:solidFill>
                <a:latin typeface="Aptos"/>
              </a:defRPr>
            </a:pPr>
            <a:r>
              <a:t>observed response pairs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754880"/>
            <a:ext cx="10789920" cy="786384"/>
          </a:xfrm>
          <a:prstGeom prst="roundRect">
            <a:avLst/>
          </a:prstGeom>
          <a:solidFill>
            <a:srgbClr val="194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010912"/>
            <a:ext cx="10149840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Question: What generalizes to new cells, and what generalizes to new drugs?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A8C83"/>
                </a:solidFill>
                <a:latin typeface="Aptos"/>
              </a:defRPr>
            </a:pPr>
            <a:r>
              <a:t>CHALLENGE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03346"/>
                </a:solidFill>
                <a:latin typeface="Aptos"/>
              </a:defRPr>
            </a:pPr>
            <a:r>
              <a:t>What is being predicted?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46C80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46C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83664"/>
            <a:ext cx="3502152" cy="3236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7" y="2121408"/>
            <a:ext cx="393192" cy="45720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32304"/>
            <a:ext cx="3081528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03346"/>
                </a:solidFill>
                <a:latin typeface="Aptos"/>
              </a:defRPr>
            </a:pPr>
            <a:r>
              <a:t>Cell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72384"/>
            <a:ext cx="3063240" cy="18470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Gene expression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Mutation records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Gene copy number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883664"/>
            <a:ext cx="3502152" cy="3236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121408"/>
            <a:ext cx="393192" cy="45720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432304"/>
            <a:ext cx="3081528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03346"/>
                </a:solidFill>
                <a:latin typeface="Aptos"/>
              </a:defRPr>
            </a:pPr>
            <a:r>
              <a:t>Drug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072384"/>
            <a:ext cx="3063240" cy="18470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Compound identity if known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Putative targets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Pathway labels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883664"/>
            <a:ext cx="3502152" cy="3236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2121408"/>
            <a:ext cx="393192" cy="45720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432304"/>
            <a:ext cx="3081528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03346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3072384"/>
            <a:ext cx="3063240" cy="18470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Continuous LN_IC50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Fitted laboratory IC50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Lower = less concentration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486400"/>
            <a:ext cx="10735056" cy="566928"/>
          </a:xfrm>
          <a:prstGeom prst="round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69280"/>
            <a:ext cx="10003536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A8C83"/>
                </a:solidFill>
                <a:latin typeface="Aptos"/>
              </a:defRPr>
            </a:pPr>
            <a:r>
              <a:t>A prediction is one cell-line and one drug combination.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A8C83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03346"/>
                </a:solidFill>
                <a:latin typeface="Aptos"/>
              </a:defRPr>
            </a:pPr>
            <a:r>
              <a:t>How did we prepare the 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46C80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46C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1984248"/>
            <a:ext cx="3511296" cy="2359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322576"/>
            <a:ext cx="3108960" cy="7315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0A8C83"/>
                </a:solidFill>
                <a:latin typeface="Aptos"/>
              </a:defRPr>
            </a:pPr>
            <a:r>
              <a:t>649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3081528" cy="4114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3346"/>
                </a:solidFill>
                <a:latin typeface="Aptos"/>
              </a:defRPr>
            </a:pPr>
            <a:r>
              <a:t>Molecular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767328"/>
            <a:ext cx="2999232" cy="3840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46C80"/>
                </a:solidFill>
                <a:latin typeface="Aptos"/>
              </a:defRPr>
            </a:pPr>
            <a:r>
              <a:t>cross-omics matched cells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984248"/>
            <a:ext cx="3511296" cy="2359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322576"/>
            <a:ext cx="3108960" cy="7315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0A8C83"/>
                </a:solidFill>
                <a:latin typeface="Aptos"/>
              </a:defRPr>
            </a:pPr>
            <a:r>
              <a:t>286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18688"/>
            <a:ext cx="3081528" cy="4114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3346"/>
                </a:solidFill>
                <a:latin typeface="Aptos"/>
              </a:defRPr>
            </a:pPr>
            <a:r>
              <a:t>Drug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767328"/>
            <a:ext cx="2999232" cy="3840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46C80"/>
                </a:solidFill>
                <a:latin typeface="Aptos"/>
              </a:defRPr>
            </a:pPr>
            <a:r>
              <a:t>source-normalized names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984248"/>
            <a:ext cx="3511296" cy="2359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322576"/>
            <a:ext cx="3108960" cy="7315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0A8C83"/>
                </a:solidFill>
                <a:latin typeface="Aptos"/>
              </a:defRPr>
            </a:pPr>
            <a:r>
              <a:t>160,512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218688"/>
            <a:ext cx="3081528" cy="4114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3346"/>
                </a:solidFill>
                <a:latin typeface="Aptos"/>
              </a:defRPr>
            </a:pPr>
            <a:r>
              <a:t>Observed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767328"/>
            <a:ext cx="2999232" cy="3840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46C80"/>
                </a:solidFill>
                <a:latin typeface="Aptos"/>
              </a:defRPr>
            </a:pPr>
            <a:r>
              <a:t>86.5% of matched grid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18304"/>
            <a:ext cx="10716768" cy="941832"/>
          </a:xfrm>
          <a:prstGeom prst="roundRect">
            <a:avLst/>
          </a:prstGeom>
          <a:solidFill>
            <a:srgbClr val="E7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965192"/>
            <a:ext cx="10149840" cy="44805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3346"/>
                </a:solidFill>
                <a:latin typeface="Aptos"/>
              </a:defRPr>
            </a:pPr>
            <a:r>
              <a:t>No missing response values were invented. Only verified, available measurements were modeled.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A8C83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03346"/>
                </a:solidFill>
                <a:latin typeface="Aptos"/>
              </a:defRPr>
            </a:pPr>
            <a:r>
              <a:t>The prediction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46C80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46C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2212848" cy="3054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96312"/>
            <a:ext cx="1097280" cy="35661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A8C8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008376"/>
            <a:ext cx="1901952" cy="56692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3346"/>
                </a:solidFill>
                <a:latin typeface="Aptos"/>
              </a:defRPr>
            </a:pPr>
            <a:r>
              <a:t>Match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886200"/>
            <a:ext cx="1929384" cy="11887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46C80"/>
                </a:solidFill>
                <a:latin typeface="Aptos"/>
              </a:defRPr>
            </a:pPr>
            <a:r>
              <a:t>COSMIC / DepMap 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2240280"/>
            <a:ext cx="2212848" cy="3054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3" y="2496312"/>
            <a:ext cx="1097280" cy="35661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A8C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08376"/>
            <a:ext cx="1901952" cy="56692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3346"/>
                </a:solidFill>
                <a:latin typeface="Aptos"/>
              </a:defRPr>
            </a:pPr>
            <a:r>
              <a:t>Hold out 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886200"/>
            <a:ext cx="1929384" cy="11887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46C80"/>
                </a:solidFill>
                <a:latin typeface="Aptos"/>
              </a:defRPr>
            </a:pPr>
            <a:r>
              <a:t>Cells or drugs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4376" y="2240280"/>
            <a:ext cx="2212848" cy="3054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2" y="2496312"/>
            <a:ext cx="1097280" cy="35661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A8C8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3008376"/>
            <a:ext cx="1901952" cy="56692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3346"/>
                </a:solidFill>
                <a:latin typeface="Aptos"/>
              </a:defRPr>
            </a:pPr>
            <a:r>
              <a:t>Build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3886200"/>
            <a:ext cx="1929384" cy="11887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46C80"/>
                </a:solidFill>
                <a:latin typeface="Aptos"/>
              </a:defRPr>
            </a:pPr>
            <a:r>
              <a:t>100 expression + 20 genomic + drug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3" y="2240280"/>
            <a:ext cx="2212848" cy="3054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19" y="2496312"/>
            <a:ext cx="1097280" cy="35661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A8C8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3008376"/>
            <a:ext cx="1901952" cy="56692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3346"/>
                </a:solidFill>
                <a:latin typeface="Aptos"/>
              </a:defRPr>
            </a:pPr>
            <a:r>
              <a:t>Fit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3886200"/>
            <a:ext cx="1929384" cy="11887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46C80"/>
                </a:solidFill>
                <a:latin typeface="Aptos"/>
              </a:defRPr>
            </a:pPr>
            <a:r>
              <a:t>Training-only preprocessing, Ridge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94392" y="2240280"/>
            <a:ext cx="2212848" cy="3054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68128" y="2496312"/>
            <a:ext cx="1097280" cy="35661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A8C8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8984" y="3008376"/>
            <a:ext cx="1901952" cy="56692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334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8984" y="3886200"/>
            <a:ext cx="1929384" cy="11887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46C80"/>
                </a:solidFill>
                <a:latin typeface="Aptos"/>
              </a:defRPr>
            </a:pPr>
            <a:r>
              <a:t>Held-out RMSE, MAE, per-drug 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586984"/>
            <a:ext cx="10789920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03346"/>
                </a:solidFill>
                <a:latin typeface="Aptos"/>
              </a:defRPr>
            </a:pPr>
            <a:r>
              <a:t>Predictor: scaled Ridge regression (alpha = 100); baseline models are fitted only to training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A8C83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03346"/>
                </a:solidFill>
                <a:latin typeface="Aptos"/>
              </a:defRPr>
            </a:pPr>
            <a:r>
              <a:t>Three held-out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46C80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46C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2020824"/>
            <a:ext cx="5184648" cy="3273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258568"/>
            <a:ext cx="393192" cy="45720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569464"/>
            <a:ext cx="4764024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03346"/>
                </a:solidFill>
                <a:latin typeface="Aptos"/>
              </a:defRPr>
            </a:pPr>
            <a:r>
              <a:t>New cell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09544"/>
            <a:ext cx="4745736" cy="188366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Train: different cell lines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Test: cell IDs never used in training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Fair baseline: mean for each familiar drug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020824"/>
            <a:ext cx="5184648" cy="3273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258568"/>
            <a:ext cx="393192" cy="45720"/>
          </a:xfrm>
          <a:prstGeom prst="rect">
            <a:avLst/>
          </a:prstGeom>
          <a:solidFill>
            <a:srgbClr val="D3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569464"/>
            <a:ext cx="4764024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03346"/>
                </a:solidFill>
                <a:latin typeface="Aptos"/>
              </a:defRPr>
            </a:pPr>
            <a:r>
              <a:t>New drugs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209544"/>
            <a:ext cx="4745736" cy="188366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Original: disjoint drug-name groups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Revised: disjoint known PubChem CIDs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50 drug codes remain unverified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0136"/>
            <a:ext cx="10881360" cy="46634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A8C83"/>
                </a:solidFill>
                <a:latin typeface="Aptos"/>
              </a:defRPr>
            </a:pPr>
            <a:r>
              <a:t>Revised BOTH NEW (32,149 pairs): RMSE 2.501 combined vs 2.554 annotations-only.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A8C83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03346"/>
                </a:solidFill>
                <a:latin typeface="Aptos"/>
              </a:defRPr>
            </a:pPr>
            <a:r>
              <a:t>What did the model achieve?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46C80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46C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37943"/>
            <a:ext cx="7424927" cy="4233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full_kfold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513760"/>
            <a:ext cx="7242047" cy="2882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1040" y="1847088"/>
            <a:ext cx="3227832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2112264"/>
            <a:ext cx="2752344" cy="6400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500" b="1">
                <a:solidFill>
                  <a:srgbClr val="0A8C83"/>
                </a:solidFill>
                <a:latin typeface="Aptos"/>
              </a:defRPr>
            </a:pPr>
            <a:r>
              <a:t>1.355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971800"/>
            <a:ext cx="2715768" cy="6583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Unseen-cell RMSE</a:t>
            </a:r>
          </a:p>
          <a:p>
            <a:pPr>
              <a:spcAft>
                <a:spcPts val="700"/>
              </a:spcAft>
              <a:defRPr sz="1700" b="0">
                <a:solidFill>
                  <a:srgbClr val="546C80"/>
                </a:solidFill>
                <a:latin typeface="Aptos"/>
              </a:defRPr>
            </a:pPr>
            <a:r>
              <a:t>vs 1.462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023360"/>
            <a:ext cx="3227832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4334256"/>
            <a:ext cx="2752344" cy="6217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500" b="1">
                <a:solidFill>
                  <a:srgbClr val="0A8C83"/>
                </a:solidFill>
                <a:latin typeface="Aptos"/>
              </a:defRPr>
            </a:pPr>
            <a:r>
              <a:t>2.452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5166360"/>
            <a:ext cx="2715768" cy="7223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  <a:r>
              <a:t>CID-grouped drug RMSE</a:t>
            </a:r>
          </a:p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  <a:r>
              <a:t>vs 2.550 annotation-only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45352"/>
            <a:ext cx="1078992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46C80"/>
                </a:solidFill>
                <a:latin typeface="Aptos"/>
              </a:defRPr>
            </a:pPr>
            <a:r>
              <a:t>Figure: original normalized-name folds. CID-grouped result shown at right.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A8C83"/>
                </a:solidFill>
                <a:latin typeface="Aptos"/>
              </a:defRPr>
            </a:pPr>
            <a:r>
              <a:t>MEANING OF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03346"/>
                </a:solidFill>
                <a:latin typeface="Aptos"/>
              </a:defRPr>
            </a:pPr>
            <a:r>
              <a:t>Pooled correlation is not the whole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46C80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46C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65376"/>
            <a:ext cx="7077456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within_drug_pea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21" y="1956816"/>
            <a:ext cx="6544524" cy="40142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947672"/>
            <a:ext cx="3474720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295144"/>
            <a:ext cx="2944368" cy="6400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900" b="1">
                <a:solidFill>
                  <a:srgbClr val="0A8C83"/>
                </a:solidFill>
                <a:latin typeface="Aptos"/>
              </a:defRPr>
            </a:pPr>
            <a:r>
              <a:t>0.449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035808"/>
            <a:ext cx="2935224" cy="33832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  <a:r>
              <a:t>Median within-drug 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913632"/>
            <a:ext cx="34747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4279392"/>
            <a:ext cx="2971800" cy="67665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0A8C83"/>
                </a:solidFill>
                <a:latin typeface="Aptos"/>
              </a:defRPr>
            </a:pPr>
            <a:r>
              <a:t>229/286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5093208"/>
            <a:ext cx="2980944" cy="60350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  <a:r>
              <a:t>Drugs with lower RMSE</a:t>
            </a:r>
          </a:p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  <a:r>
              <a:t>than their training mean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A8C83"/>
                </a:solidFill>
                <a:latin typeface="Aptos"/>
              </a:defRPr>
            </a:pPr>
            <a:r>
              <a:t>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03346"/>
                </a:solidFill>
                <a:latin typeface="Aptos"/>
              </a:defRPr>
            </a:pPr>
            <a:r>
              <a:t>Which drugs remain difficult?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46C80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46C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8183879" cy="44256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mek_and_biomarker_dru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24" y="1920240"/>
            <a:ext cx="7635167" cy="42428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061704" y="2011680"/>
            <a:ext cx="2478024" cy="3922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872" y="2450592"/>
            <a:ext cx="2103120" cy="57607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03346"/>
                </a:solidFill>
                <a:latin typeface="Aptos"/>
              </a:defRPr>
            </a:pPr>
            <a:r>
              <a:t>Key 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346704"/>
            <a:ext cx="2039112" cy="215798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  <a:r>
              <a:t>A known drug identity does not ensure accurate variation between cell lines.</a:t>
            </a:r>
          </a:p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  <a:r>
              <a:t>MEK inhibitors remain challenging.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A8C83"/>
                </a:solidFill>
                <a:latin typeface="Aptos"/>
              </a:defRPr>
            </a:pPr>
            <a:r>
              <a:t>BIOLOGICAL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03346"/>
                </a:solidFill>
                <a:latin typeface="Aptos"/>
              </a:defRPr>
            </a:pPr>
            <a:r>
              <a:t>Can genomic variables explain some responses?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46C80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46C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7946136" cy="43982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drug_specific_gene_permu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2084934"/>
            <a:ext cx="7763256" cy="388599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78824" y="1993392"/>
            <a:ext cx="2633472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2395728"/>
            <a:ext cx="2139696" cy="8686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A8C83"/>
                </a:solidFill>
                <a:latin typeface="Aptos"/>
              </a:defRPr>
            </a:pPr>
            <a:r>
              <a:t>Nutlin-3a / TP53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9136" y="3547872"/>
            <a:ext cx="2112264" cy="218541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  <a:r>
              <a:t>Mechanism-linked model reliance on held-out cells.</a:t>
            </a:r>
          </a:p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546C80"/>
                </a:solidFill>
                <a:latin typeface="Aptos"/>
              </a:defRPr>
            </a:pPr>
            <a:r>
              <a:t>Biological association, not a validated treatment biomarker.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402336"/>
            <a:ext cx="73152" cy="338328"/>
          </a:xfrm>
          <a:prstGeom prst="rect">
            <a:avLst/>
          </a:prstGeom>
          <a:solidFill>
            <a:srgbClr val="D3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02336"/>
            <a:ext cx="10058400" cy="246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91DFD6"/>
                </a:solidFill>
                <a:latin typeface="Aptos"/>
              </a:defRPr>
            </a:pPr>
            <a:r>
              <a:t>INTEGRITY, DISCUSSION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155680" cy="8503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What can we conclude safely?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91088" cy="14630"/>
          </a:xfrm>
          <a:prstGeom prst="rect">
            <a:avLst/>
          </a:prstGeom>
          <a:solidFill>
            <a:srgbClr val="4C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56248"/>
            <a:ext cx="105156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4C5D2"/>
                </a:solidFill>
                <a:latin typeface="Aptos"/>
              </a:defRPr>
            </a:pPr>
            <a:r>
              <a:t>CHALLENGE 27   /   GENE EXPRESSION &amp; DRUG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4572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B4C5D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3538728" cy="3410712"/>
          </a:xfrm>
          <a:prstGeom prst="roundRect">
            <a:avLst/>
          </a:prstGeom>
          <a:solidFill>
            <a:srgbClr val="244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3" y="2212848"/>
            <a:ext cx="384048" cy="54864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96312"/>
            <a:ext cx="3145536" cy="63093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419856"/>
            <a:ext cx="3118104" cy="177393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D6E5EF"/>
                </a:solidFill>
                <a:latin typeface="Aptos"/>
              </a:defRPr>
            </a:pPr>
            <a:r>
              <a:t>Better than appropriate baselines on both grouped holdout tasks; within-drug performance varies.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975104"/>
            <a:ext cx="3538728" cy="3410712"/>
          </a:xfrm>
          <a:prstGeom prst="roundRect">
            <a:avLst/>
          </a:prstGeom>
          <a:solidFill>
            <a:srgbClr val="244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26864" y="2212848"/>
            <a:ext cx="384048" cy="54864"/>
          </a:xfrm>
          <a:prstGeom prst="rect">
            <a:avLst/>
          </a:prstGeom>
          <a:solidFill>
            <a:srgbClr val="0A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496312"/>
            <a:ext cx="3145536" cy="63093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419856"/>
            <a:ext cx="3118104" cy="177393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D6E5EF"/>
                </a:solidFill>
                <a:latin typeface="Aptos"/>
              </a:defRPr>
            </a:pPr>
            <a:r>
              <a:t>Cross-source cell IDs and supplied drug target/pathway annotations are meaningful.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975104"/>
            <a:ext cx="3538728" cy="3410712"/>
          </a:xfrm>
          <a:prstGeom prst="roundRect">
            <a:avLst/>
          </a:prstGeom>
          <a:solidFill>
            <a:srgbClr val="244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21624" y="2212848"/>
            <a:ext cx="384048" cy="54864"/>
          </a:xfrm>
          <a:prstGeom prst="rect">
            <a:avLst/>
          </a:prstGeom>
          <a:solidFill>
            <a:srgbClr val="D3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2496312"/>
            <a:ext cx="3145536" cy="63093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Limitations &amp; 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3419856"/>
            <a:ext cx="3118104" cy="177393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D6E5EF"/>
                </a:solidFill>
                <a:latin typeface="Aptos"/>
              </a:defRPr>
            </a:pPr>
            <a:r>
              <a:t>Scientific risks: 50 missing CIDs; 2 chemical-form conflicts; retrospective tests; unverified salt forms; source-year mismatch; no external 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605272"/>
            <a:ext cx="10817352" cy="512064"/>
          </a:xfrm>
          <a:prstGeom prst="roundRect">
            <a:avLst/>
          </a:prstGeom>
          <a:solidFill>
            <a:srgbClr val="19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751576"/>
            <a:ext cx="1019556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Nonclinical research; incomplete chemical aliases; AI-assisted development disclosed.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